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Analisis Kualitas Layanan (QoS) Jaringan Wi-Fi Kampus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Studi Kasus: Universitas Putra Bangsa (UPB) tipe Enterprise Multi-Building</a:t>
            </a:r>
          </a:p>
          <a:p/>
          <a:p>
            <a:r>
              <a:t>Oleh: [Nama Anda]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Latar Belakang &amp; Masalah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Terdapat keluhan subjektif dari mahasiswa dan dosen mengenai koneksi Wi-Fi yang lambat di jam-jam sibuk.</a:t>
            </a:r>
          </a:p>
          <a:p>
            <a:r>
              <a:t>• Sistem monitoring IT Helpdesk kampus saat ini hanya bersifat Hardware-Centric (melihat status alat mati/menyala).</a:t>
            </a:r>
          </a:p>
          <a:p>
            <a:r>
              <a:t>• Tidak ada monitoring dari sisi pengalaman pengguna (User-Centric / End-to-End).</a:t>
            </a:r>
          </a:p>
          <a:p>
            <a:r>
              <a:t>• Akibatnya, penumpukan pengguna (traffic congestion) dan bottleneck logis gagal terdeteksi secara dini.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Rumusan Masalah (Gap Penelitian)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Kesenjangan (Gap):</a:t>
            </a:r>
          </a:p>
          <a:p>
            <a:r>
              <a:t>• Belum ada peta kualitas layanan (QoS) internet nirkabel secara end-to-end yang menggunakan standar TIPHON pada arsitektur kampus UPB.</a:t>
            </a:r>
          </a:p>
          <a:p/>
          <a:p>
            <a:r>
              <a:t>Tujuan:</a:t>
            </a:r>
          </a:p>
          <a:p>
            <a:r>
              <a:t>• Memetakan performa throughput, delay, jitter, dan packet loss di 4 lokasi strategis kampus.</a:t>
            </a:r>
          </a:p>
          <a:p>
            <a:r>
              <a:t>• Membandingkan fluktuasi performa pada 3 interval waktu perkuliahan (Pagi, Siang, Sore).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 Penelitian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Pendekatan Pengumpulan Data:</a:t>
            </a:r>
          </a:p>
          <a:p>
            <a:r>
              <a:t>• Penyadapan (Sniffing): Menggunakan Wireshark untuk menangkap lalu lintas paket data (.pcap).</a:t>
            </a:r>
          </a:p>
          <a:p>
            <a:r>
              <a:t>• Durasi: 5 menit per sesi pengujian (mencegah file membengkak namun tetap representatif).</a:t>
            </a:r>
          </a:p>
          <a:p/>
          <a:p>
            <a:r>
              <a:t>Variabel &amp; Parameter:</a:t>
            </a:r>
          </a:p>
          <a:p>
            <a:r>
              <a:t>• Spasial: Kopma, Lorong Lab AI, Lorong Lab Komputer, Ruby Tengah.</a:t>
            </a:r>
          </a:p>
          <a:p>
            <a:r>
              <a:t>• Temporal: Pagi (07.50), Siang (13.00), Sore (16.00).</a:t>
            </a:r>
          </a:p>
          <a:p>
            <a:r>
              <a:t>• Ekstraksi: Tshark ke CSV, perhitungan sesuai indeks Standar TIPHON.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Hasil Utama: Statistik Deskriptif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Lorong Lab Komputer memiliki disparitas ekstrem:</a:t>
            </a:r>
          </a:p>
          <a:p>
            <a:r>
              <a:t>  - Pagi: Rata-rata 2900 Kbps (Maks: 6601 Kbps)</a:t>
            </a:r>
          </a:p>
          <a:p>
            <a:r>
              <a:t>  - Sore: Turun drastis menjadi 1070 Kbps</a:t>
            </a:r>
          </a:p>
          <a:p/>
          <a:p>
            <a:r>
              <a:t>• Secara umum, throughput rata-rata di area lain berada di kisaran 1000 - 2200 Kbps.</a:t>
            </a:r>
          </a:p>
          <a:p>
            <a:r>
              <a:t>• Tren menunjukkan bahwa sesi 'Sore' selalu menjadi titik terendah performa jaringan di mayoritas lokasi observasi.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Visualisasi Penurunan Performa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 Tempatkan Gambar Grafik/Boxplot Anda di sini ]</a:t>
            </a:r>
          </a:p>
          <a:p/>
          <a:p>
            <a:r>
              <a:t>• Terlihat pada grafik, bar/kurva pada sesi Sore (16.00) mengalami penurunan drastis.</a:t>
            </a:r>
          </a:p>
          <a:p>
            <a:r>
              <a:t>• Hal ini mengindikasikan bahwa pergantian kelas/selesainya kelas di sore hari memicu lonjakan pengguna simultan (concurrent users).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Interpretasi Uji Statistik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Uji Hipotesis (Kruskal-Wallis H Test):</a:t>
            </a:r>
          </a:p>
          <a:p>
            <a:r>
              <a:t>• p-value = 0.003 (Signifikan, p &lt; 0.05)</a:t>
            </a:r>
          </a:p>
          <a:p>
            <a:r>
              <a:t>• Hal ini membuktikan bahwa perbedaan performa di ketiga sesi waktu (Pagi, Siang, Sore) adalah NYATA secara statistik dan bukan faktor kebetulan.</a:t>
            </a:r>
          </a:p>
          <a:p/>
          <a:p>
            <a:r>
              <a:t>Effect Size:</a:t>
            </a:r>
          </a:p>
          <a:p>
            <a:r>
              <a:t>• η² (Eta-squared) = 0.1658 (Large Effect Size)</a:t>
            </a:r>
          </a:p>
          <a:p>
            <a:r>
              <a:t>• Dampak kemacetan trafik di sore hari sangat besar dirasakan oleh para pengguna jaringan.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Limitasi &amp; Saran Masa Depan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Batasan Penelitian (Limitation):</a:t>
            </a:r>
          </a:p>
          <a:p>
            <a:r>
              <a:t>• Sampel terbatas pada 5 kali run (pengujian) per skenario, sehingga rentan fluktuasi jangka pendek.</a:t>
            </a:r>
          </a:p>
          <a:p>
            <a:r>
              <a:t>• Pengujian hanya berbasis *packet capture* (tshark) pasif.</a:t>
            </a:r>
          </a:p>
          <a:p/>
          <a:p>
            <a:r>
              <a:t>Riset Selanjutnya (Future Work):</a:t>
            </a:r>
          </a:p>
          <a:p>
            <a:r>
              <a:t>• Disarankan untuk melakukan sampling jangka panjang (misalnya pemantauan otomatis 14 hari penuh).</a:t>
            </a:r>
          </a:p>
          <a:p>
            <a:r>
              <a:t>• Melakukan *cross-validation* menggunakan *active probing* seperti iPerf/Speedtest mandiri.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 &amp; Kontribusi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Kesimpulan Utama:</a:t>
            </a:r>
          </a:p>
          <a:p>
            <a:r>
              <a:t>• Kualitas Wi-Fi kampus UPB sangat rentan terhadap kemacetan trafik spasial-temporal, terutama di sesi Sore pada area lorong laboratorium.</a:t>
            </a:r>
          </a:p>
          <a:p/>
          <a:p>
            <a:r>
              <a:t>Kontribusi Praktis:</a:t>
            </a:r>
          </a:p>
          <a:p>
            <a:r>
              <a:t>• Memberikan bukti empiris/objektif (data-driven) kepada IT Helpdesk kampus untuk menambah Access Point atau memperbesar alokasi bandwidth di area-area tersebut pada jam rawan.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